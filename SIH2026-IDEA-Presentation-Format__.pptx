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9B0D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4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BE88E1-F338-4237-9398-9BFE75DC28A7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2812A2-C92A-4B05-BF7E-1594B8ED9C9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1DC5F-EBC5-4496-B148-85591F5FC2B6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2E7D36-2F6A-41F1-9D67-21E1FB186B1B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9B0033-37C7-4683-9783-1225DE33D030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B6EC54-ED74-4D51-9F8B-987CE15C991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D6AABE-F582-4EE5-974A-18F700AE88D9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66869C-2899-448F-98EE-14290CF9349C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2E5CE9-C9EE-463F-964A-EE3423611C1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CC21C0-25AF-4BE3-95A5-6CA117E174A7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CDD1BE-0501-4B38-8BA3-E944122406AF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9F5F6F2A-1D79-4011-AFAC-4E086856168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754072" y="716136"/>
            <a:ext cx="10363199" cy="106233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CLAUSENTIS – PROCUREMENT INTELLIGENCE, MADE VERIFIABLE</a:t>
            </a:r>
            <a:endParaRPr lang="en-IN" sz="2800" b="1" dirty="0">
              <a:solidFill>
                <a:schemeClr val="tx1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36145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936" y="39370"/>
            <a:ext cx="1719999" cy="81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1ABD5-7E84-6684-63D5-1DFE307D2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692" y="1963403"/>
            <a:ext cx="7795244" cy="4523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5B6DD4-C3B7-8109-4BC3-8F8C1361A2FB}"/>
              </a:ext>
            </a:extLst>
          </p:cNvPr>
          <p:cNvSpPr txBox="1"/>
          <p:nvPr/>
        </p:nvSpPr>
        <p:spPr>
          <a:xfrm>
            <a:off x="243645" y="2225488"/>
            <a:ext cx="483155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ook Antiqua" panose="02040602050305030304" pitchFamily="18" charset="0"/>
              </a:rPr>
              <a:t>Problem Statement ID : SIH26100</a:t>
            </a: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r>
              <a:rPr lang="en-IN" sz="2000" dirty="0">
                <a:latin typeface="Book Antiqua" panose="02040602050305030304" pitchFamily="18" charset="0"/>
              </a:rPr>
              <a:t>Problem Statement Title : AI –Powered </a:t>
            </a:r>
          </a:p>
          <a:p>
            <a:r>
              <a:rPr lang="en-IN" sz="2000" dirty="0">
                <a:latin typeface="Book Antiqua" panose="02040602050305030304" pitchFamily="18" charset="0"/>
              </a:rPr>
              <a:t>Integrated Bid Compliance Verification Platform for </a:t>
            </a:r>
            <a:r>
              <a:rPr lang="en-IN" sz="2000" dirty="0" err="1">
                <a:latin typeface="Book Antiqua" panose="02040602050305030304" pitchFamily="18" charset="0"/>
              </a:rPr>
              <a:t>GeM</a:t>
            </a:r>
            <a:r>
              <a:rPr lang="en-IN" sz="2000" dirty="0">
                <a:latin typeface="Book Antiqua" panose="02040602050305030304" pitchFamily="18" charset="0"/>
              </a:rPr>
              <a:t> Procurement</a:t>
            </a: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r>
              <a:rPr lang="en-IN" sz="2000" dirty="0">
                <a:latin typeface="Book Antiqua" panose="02040602050305030304" pitchFamily="18" charset="0"/>
              </a:rPr>
              <a:t>Theme : Smart Automation</a:t>
            </a: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r>
              <a:rPr lang="en-IN" sz="2000" dirty="0">
                <a:latin typeface="Book Antiqua" panose="02040602050305030304" pitchFamily="18" charset="0"/>
              </a:rPr>
              <a:t>PS Category : Software</a:t>
            </a: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r>
              <a:rPr lang="en-IN" sz="2000" dirty="0">
                <a:latin typeface="Book Antiqua" panose="02040602050305030304" pitchFamily="18" charset="0"/>
              </a:rPr>
              <a:t>Team ID : </a:t>
            </a:r>
          </a:p>
          <a:p>
            <a:endParaRPr lang="en-IN" sz="2000" dirty="0">
              <a:latin typeface="Book Antiqua" panose="02040602050305030304" pitchFamily="18" charset="0"/>
            </a:endParaRPr>
          </a:p>
          <a:p>
            <a:r>
              <a:rPr lang="en-IN" sz="2000" dirty="0">
                <a:latin typeface="Book Antiqua" panose="02040602050305030304" pitchFamily="18" charset="0"/>
              </a:rPr>
              <a:t>Team Name :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60811"/>
            <a:ext cx="12191999" cy="31179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264538" y="-53707"/>
            <a:ext cx="11846938" cy="114300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w Cen MT" panose="020B0602020104020603" pitchFamily="34" charset="0"/>
                <a:cs typeface="Times New Roman" panose="02020603050405020304" pitchFamily="18" charset="0"/>
              </a:rPr>
              <a:t>CLAUSENTIS – PROCUREMENT INTELLIGENCE, </a:t>
            </a:r>
            <a:br>
              <a:rPr lang="en-US" sz="2800" b="1" dirty="0">
                <a:latin typeface="Tw Cen MT" panose="020B0602020104020603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w Cen MT" panose="020B0602020104020603" pitchFamily="34" charset="0"/>
                <a:cs typeface="Times New Roman" panose="02020603050405020304" pitchFamily="18" charset="0"/>
              </a:rPr>
              <a:t>MADE VERIFIABLE</a:t>
            </a:r>
            <a:br>
              <a:rPr lang="en-IN" sz="2800" b="1" dirty="0">
                <a:latin typeface="Tw Cen MT" panose="020B0602020104020603" pitchFamily="34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3177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287" y="15711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288" y="9832"/>
            <a:ext cx="1318260" cy="62245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426CA1-B358-CAB9-279A-7061B335AF50}"/>
              </a:ext>
            </a:extLst>
          </p:cNvPr>
          <p:cNvSpPr/>
          <p:nvPr/>
        </p:nvSpPr>
        <p:spPr>
          <a:xfrm>
            <a:off x="234634" y="1117134"/>
            <a:ext cx="3696796" cy="458518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THE PROBLEM</a:t>
            </a:r>
          </a:p>
          <a:p>
            <a:r>
              <a:rPr lang="en-IN" b="1" cap="all" dirty="0"/>
              <a:t>Today's Challenges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Manual examination of complex bidder documents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Cross-checking across multiple statutory sources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Tender-specific requirements are difficult to track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Missing or inconsistent information can be overlooked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Longer evaluation cycles and human errors in scoring</a:t>
            </a:r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3B64B4-0AC9-5A98-B913-70087BA7B1B8}"/>
              </a:ext>
            </a:extLst>
          </p:cNvPr>
          <p:cNvSpPr/>
          <p:nvPr/>
        </p:nvSpPr>
        <p:spPr>
          <a:xfrm>
            <a:off x="4040284" y="1796786"/>
            <a:ext cx="3104538" cy="3225876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               CLAUSENTIS    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Tender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 Requirements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Bidder documents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AI Extraction + Source Verification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 cross-Document check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Compliance + Risk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 AI Recommendation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Corbel" panose="020B0503020204020204" pitchFamily="34" charset="0"/>
              </a:rPr>
              <a:t>Officer decision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E29CE4-A77C-A618-1F3B-52A265A608A2}"/>
              </a:ext>
            </a:extLst>
          </p:cNvPr>
          <p:cNvSpPr/>
          <p:nvPr/>
        </p:nvSpPr>
        <p:spPr>
          <a:xfrm>
            <a:off x="7253676" y="1060797"/>
            <a:ext cx="4776260" cy="49240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Corbel" panose="020B0503020204020204" pitchFamily="34" charset="0"/>
              </a:rPr>
              <a:t>              WHAT MAKES IT DIFFERENT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Corbel" panose="020B0503020204020204" pitchFamily="34" charset="0"/>
              </a:rPr>
              <a:t>Tender-Aware: </a:t>
            </a:r>
            <a:r>
              <a:rPr lang="en-IN" dirty="0">
                <a:latin typeface="Corbel" panose="020B0503020204020204" pitchFamily="34" charset="0"/>
              </a:rPr>
              <a:t>Requirements are extracted and dynamically evaluated per individual tender rules.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Corbel" panose="020B0503020204020204" pitchFamily="34" charset="0"/>
              </a:rPr>
              <a:t>Evidence-Backed: </a:t>
            </a:r>
            <a:r>
              <a:rPr lang="en-IN" dirty="0">
                <a:latin typeface="Corbel" panose="020B0503020204020204" pitchFamily="34" charset="0"/>
              </a:rPr>
              <a:t>Every finding explicitly links to exact document page, line, or statutory source evidence.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Corbel" panose="020B0503020204020204" pitchFamily="34" charset="0"/>
              </a:rPr>
              <a:t>Hybrid Intelligence : </a:t>
            </a:r>
            <a:r>
              <a:rPr lang="en-IN" dirty="0">
                <a:latin typeface="Corbel" panose="020B0503020204020204" pitchFamily="34" charset="0"/>
              </a:rPr>
              <a:t>AI interprets ambiguous text; deterministic rule engines compute exact mathematical compliance.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Corbel" panose="020B0503020204020204" pitchFamily="34" charset="0"/>
              </a:rPr>
              <a:t>Decision Support : </a:t>
            </a:r>
            <a:r>
              <a:rPr lang="en-IN" dirty="0">
                <a:latin typeface="Corbel" panose="020B0503020204020204" pitchFamily="34" charset="0"/>
              </a:rPr>
              <a:t>AI provides clear recommendations while maintaining Procurement Officer decision authority.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Corbel" panose="020B0503020204020204" pitchFamily="34" charset="0"/>
              </a:rPr>
              <a:t>Auditable : </a:t>
            </a:r>
            <a:r>
              <a:rPr lang="en-IN" dirty="0">
                <a:latin typeface="Corbel" panose="020B0503020204020204" pitchFamily="34" charset="0"/>
              </a:rPr>
              <a:t>Every statutory verification and decision point is completely traceable and log-archived.</a:t>
            </a:r>
          </a:p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A8287C-7777-ECD8-C1D1-7DCAEFDEBAF6}"/>
              </a:ext>
            </a:extLst>
          </p:cNvPr>
          <p:cNvSpPr/>
          <p:nvPr/>
        </p:nvSpPr>
        <p:spPr>
          <a:xfrm>
            <a:off x="698090" y="6108671"/>
            <a:ext cx="10707328" cy="3682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One unified verification layer across bidder documents + statutory sources + tender rules.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6738"/>
            <a:ext cx="12191999" cy="23126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56935" y="14541"/>
            <a:ext cx="8807115" cy="638255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626740"/>
            <a:ext cx="2411361" cy="23126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0759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1" y="53028"/>
            <a:ext cx="1558710" cy="73599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B51535-2096-29A9-ECD9-C71AD529E22E}"/>
              </a:ext>
            </a:extLst>
          </p:cNvPr>
          <p:cNvSpPr/>
          <p:nvPr/>
        </p:nvSpPr>
        <p:spPr>
          <a:xfrm>
            <a:off x="54475" y="1217273"/>
            <a:ext cx="1907458" cy="5091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cap="al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Frontend</a:t>
            </a:r>
          </a:p>
          <a:p>
            <a:pPr algn="ctr"/>
            <a:r>
              <a:rPr lang="en-IN" sz="1400" b="1" dirty="0"/>
              <a:t>React / TypeScript</a:t>
            </a:r>
            <a:endParaRPr lang="en-IN" sz="1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2A5998-5D1F-3557-E0F5-EA7D20C909FD}"/>
              </a:ext>
            </a:extLst>
          </p:cNvPr>
          <p:cNvSpPr/>
          <p:nvPr/>
        </p:nvSpPr>
        <p:spPr>
          <a:xfrm>
            <a:off x="2043108" y="1206565"/>
            <a:ext cx="1907458" cy="5151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>
                <a:solidFill>
                  <a:schemeClr val="accent1"/>
                </a:solidFill>
              </a:rPr>
              <a:t>Backend &amp; DB</a:t>
            </a:r>
          </a:p>
          <a:p>
            <a:pPr algn="ctr"/>
            <a:r>
              <a:rPr lang="en-IN" sz="1200" b="1" dirty="0" err="1"/>
              <a:t>Supabase</a:t>
            </a:r>
            <a:r>
              <a:rPr lang="en-IN" sz="1200" b="1" dirty="0"/>
              <a:t> PostgreSQL + Storage</a:t>
            </a:r>
            <a:endParaRPr lang="en-IN" sz="12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A92EEB-0241-9A6C-9442-DE4AC3CADE11}"/>
              </a:ext>
            </a:extLst>
          </p:cNvPr>
          <p:cNvSpPr/>
          <p:nvPr/>
        </p:nvSpPr>
        <p:spPr>
          <a:xfrm>
            <a:off x="6047434" y="1207968"/>
            <a:ext cx="1919612" cy="5032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>
                <a:solidFill>
                  <a:schemeClr val="accent1"/>
                </a:solidFill>
              </a:rPr>
              <a:t>Doc Intelligence</a:t>
            </a:r>
          </a:p>
          <a:p>
            <a:pPr algn="ctr"/>
            <a:r>
              <a:rPr lang="en-IN" sz="1200" b="1" dirty="0"/>
              <a:t>OCR + PDF &amp; AI Extraction</a:t>
            </a:r>
            <a:endParaRPr lang="en-IN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25460A-5681-943D-29A1-C8E0CD0EA16D}"/>
              </a:ext>
            </a:extLst>
          </p:cNvPr>
          <p:cNvSpPr/>
          <p:nvPr/>
        </p:nvSpPr>
        <p:spPr>
          <a:xfrm>
            <a:off x="10064050" y="1211341"/>
            <a:ext cx="1907458" cy="5151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>
                <a:solidFill>
                  <a:schemeClr val="accent1"/>
                </a:solidFill>
              </a:rPr>
              <a:t>Audit &amp;</a:t>
            </a:r>
            <a:r>
              <a:rPr lang="en-IN" b="1" cap="all" dirty="0">
                <a:solidFill>
                  <a:schemeClr val="accent1"/>
                </a:solidFill>
              </a:rPr>
              <a:t> </a:t>
            </a:r>
            <a:r>
              <a:rPr lang="en-IN" sz="1200" b="1" cap="all" dirty="0">
                <a:solidFill>
                  <a:schemeClr val="accent1"/>
                </a:solidFill>
              </a:rPr>
              <a:t>Reports</a:t>
            </a:r>
          </a:p>
          <a:p>
            <a:pPr algn="ctr"/>
            <a:r>
              <a:rPr lang="en-IN" sz="1200" b="1" dirty="0"/>
              <a:t>PDF Generation Dossier</a:t>
            </a:r>
            <a:endParaRPr lang="en-IN" sz="12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B52AA1-7692-3801-EDB5-96A60BDB0C4B}"/>
              </a:ext>
            </a:extLst>
          </p:cNvPr>
          <p:cNvSpPr/>
          <p:nvPr/>
        </p:nvSpPr>
        <p:spPr>
          <a:xfrm>
            <a:off x="8072728" y="1217273"/>
            <a:ext cx="1919612" cy="5032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>
                <a:solidFill>
                  <a:schemeClr val="accent1"/>
                </a:solidFill>
              </a:rPr>
              <a:t>Compliance Engine</a:t>
            </a:r>
          </a:p>
          <a:p>
            <a:pPr algn="ctr"/>
            <a:r>
              <a:rPr lang="en-IN" sz="1200" b="1" dirty="0"/>
              <a:t>Rule-Based Deterministic</a:t>
            </a:r>
            <a:endParaRPr lang="en-IN" sz="12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78592D-03A6-475A-B94E-12DB5CEB67C5}"/>
              </a:ext>
            </a:extLst>
          </p:cNvPr>
          <p:cNvSpPr/>
          <p:nvPr/>
        </p:nvSpPr>
        <p:spPr>
          <a:xfrm>
            <a:off x="4016480" y="1201969"/>
            <a:ext cx="1954298" cy="5091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cap="all" dirty="0">
                <a:solidFill>
                  <a:schemeClr val="accent1"/>
                </a:solidFill>
              </a:rPr>
              <a:t>AI Layer</a:t>
            </a:r>
          </a:p>
          <a:p>
            <a:pPr algn="ctr"/>
            <a:r>
              <a:rPr lang="en-IN" sz="1400" b="1" dirty="0" err="1"/>
              <a:t>Groq</a:t>
            </a:r>
            <a:r>
              <a:rPr lang="en-IN" sz="1400" b="1" dirty="0"/>
              <a:t> LLM Engine</a:t>
            </a:r>
            <a:endParaRPr lang="en-IN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A8FE71-96C3-D147-3698-2E417E2AEE28}"/>
              </a:ext>
            </a:extLst>
          </p:cNvPr>
          <p:cNvSpPr txBox="1"/>
          <p:nvPr/>
        </p:nvSpPr>
        <p:spPr>
          <a:xfrm>
            <a:off x="0" y="849957"/>
            <a:ext cx="4256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cap="all" dirty="0">
                <a:latin typeface="Bell MT" panose="02020503060305020303" pitchFamily="18" charset="0"/>
              </a:rPr>
              <a:t>1. Technology Stack Overview</a:t>
            </a:r>
            <a:endParaRPr lang="en-IN" dirty="0">
              <a:latin typeface="Bell MT" panose="02020503060305020303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A9475F-BAF1-3E19-692F-E1CB45BEDD73}"/>
              </a:ext>
            </a:extLst>
          </p:cNvPr>
          <p:cNvSpPr/>
          <p:nvPr/>
        </p:nvSpPr>
        <p:spPr>
          <a:xfrm>
            <a:off x="0" y="1974228"/>
            <a:ext cx="12003966" cy="319157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26743B-B2AC-300D-00BC-929F59C0CB37}"/>
              </a:ext>
            </a:extLst>
          </p:cNvPr>
          <p:cNvSpPr/>
          <p:nvPr/>
        </p:nvSpPr>
        <p:spPr>
          <a:xfrm>
            <a:off x="188034" y="2014982"/>
            <a:ext cx="6718699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b="1" cap="all" dirty="0"/>
              <a:t>2</a:t>
            </a:r>
            <a:r>
              <a:rPr lang="en-IN" b="1" cap="all" dirty="0">
                <a:latin typeface="Bell MT" panose="02020503060305020303" pitchFamily="18" charset="0"/>
              </a:rPr>
              <a:t>. Core Implementation Pipeline &amp; Methodology</a:t>
            </a:r>
          </a:p>
          <a:p>
            <a:pPr algn="ctr"/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205A6A-4ED2-2277-0527-E3B133E15C01}"/>
              </a:ext>
            </a:extLst>
          </p:cNvPr>
          <p:cNvSpPr/>
          <p:nvPr/>
        </p:nvSpPr>
        <p:spPr>
          <a:xfrm>
            <a:off x="407451" y="2484618"/>
            <a:ext cx="2220517" cy="666278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cap="all" dirty="0">
                <a:solidFill>
                  <a:schemeClr val="tx1"/>
                </a:solidFill>
              </a:rPr>
              <a:t>                  </a:t>
            </a:r>
          </a:p>
          <a:p>
            <a:r>
              <a:rPr lang="en-IN" sz="1200" b="1" cap="all" dirty="0">
                <a:solidFill>
                  <a:schemeClr val="tx1"/>
                </a:solidFill>
              </a:rPr>
              <a:t>                     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       Tender Document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             Ingestion</a:t>
            </a:r>
          </a:p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C39CC0A-54E3-49B2-650E-7C6A359D949B}"/>
              </a:ext>
            </a:extLst>
          </p:cNvPr>
          <p:cNvSpPr/>
          <p:nvPr/>
        </p:nvSpPr>
        <p:spPr>
          <a:xfrm>
            <a:off x="3345996" y="2512282"/>
            <a:ext cx="2100341" cy="657411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cap="all" dirty="0">
              <a:solidFill>
                <a:schemeClr val="tx1"/>
              </a:solidFill>
            </a:endParaRPr>
          </a:p>
          <a:p>
            <a:r>
              <a:rPr lang="en-IN" sz="1200" b="1" cap="all" dirty="0">
                <a:solidFill>
                  <a:schemeClr val="tx1"/>
                </a:solidFill>
              </a:rPr>
              <a:t>             </a:t>
            </a:r>
          </a:p>
          <a:p>
            <a:r>
              <a:rPr lang="en-IN" sz="1200" b="1" dirty="0">
                <a:solidFill>
                  <a:schemeClr val="tx1"/>
                </a:solidFill>
              </a:rPr>
              <a:t>          </a:t>
            </a:r>
            <a:r>
              <a:rPr lang="en-IN" sz="1400" b="1" dirty="0">
                <a:solidFill>
                  <a:schemeClr val="tx1"/>
                </a:solidFill>
              </a:rPr>
              <a:t>AI Requirement  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               Extraction</a:t>
            </a:r>
          </a:p>
          <a:p>
            <a:pPr algn="ctr"/>
            <a:endParaRPr lang="en-IN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0A78B2-129A-B920-7378-980CD76B9E39}"/>
              </a:ext>
            </a:extLst>
          </p:cNvPr>
          <p:cNvSpPr/>
          <p:nvPr/>
        </p:nvSpPr>
        <p:spPr>
          <a:xfrm>
            <a:off x="6287222" y="2481708"/>
            <a:ext cx="2100340" cy="661643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cap="all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</a:rPr>
              <a:t>Structured Tender Rules</a:t>
            </a:r>
          </a:p>
          <a:p>
            <a:pPr algn="ctr"/>
            <a:endParaRPr lang="en-IN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1DF1956-E905-52C6-3835-B9F6A58E9A44}"/>
              </a:ext>
            </a:extLst>
          </p:cNvPr>
          <p:cNvSpPr/>
          <p:nvPr/>
        </p:nvSpPr>
        <p:spPr>
          <a:xfrm>
            <a:off x="9228447" y="2489253"/>
            <a:ext cx="1974767" cy="661643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cap="all" dirty="0">
              <a:solidFill>
                <a:schemeClr val="tx1"/>
              </a:solidFill>
            </a:endParaRPr>
          </a:p>
          <a:p>
            <a:endParaRPr lang="en-IN" sz="1200" b="1" cap="all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</a:rPr>
              <a:t> Bidder Documents                                                                                    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Upload</a:t>
            </a:r>
          </a:p>
          <a:p>
            <a:pPr algn="ctr"/>
            <a:endParaRPr lang="en-IN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BE9C07F-D07B-A9EE-311D-235C44E29576}"/>
              </a:ext>
            </a:extLst>
          </p:cNvPr>
          <p:cNvSpPr/>
          <p:nvPr/>
        </p:nvSpPr>
        <p:spPr>
          <a:xfrm>
            <a:off x="420052" y="3536874"/>
            <a:ext cx="2253260" cy="634989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AI Document Extraction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73E8507-1C2E-420B-8DC1-505FD53BFBF3}"/>
              </a:ext>
            </a:extLst>
          </p:cNvPr>
          <p:cNvSpPr/>
          <p:nvPr/>
        </p:nvSpPr>
        <p:spPr>
          <a:xfrm>
            <a:off x="3418743" y="4430525"/>
            <a:ext cx="2100340" cy="645003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Compliance Score &amp; Risk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5892F53-E18D-364A-7F6A-B1490EC51A1D}"/>
              </a:ext>
            </a:extLst>
          </p:cNvPr>
          <p:cNvSpPr/>
          <p:nvPr/>
        </p:nvSpPr>
        <p:spPr>
          <a:xfrm>
            <a:off x="9239537" y="4409850"/>
            <a:ext cx="1974767" cy="592985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Officer &amp; Audit Trail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1A3E446-8130-57A9-0D99-6AD2DBAD19A3}"/>
              </a:ext>
            </a:extLst>
          </p:cNvPr>
          <p:cNvSpPr/>
          <p:nvPr/>
        </p:nvSpPr>
        <p:spPr>
          <a:xfrm>
            <a:off x="3345996" y="3462753"/>
            <a:ext cx="2100341" cy="669827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Evidence Objects Creation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C9E0A5A-D146-16E7-C2DA-D0B3A279CC48}"/>
              </a:ext>
            </a:extLst>
          </p:cNvPr>
          <p:cNvSpPr/>
          <p:nvPr/>
        </p:nvSpPr>
        <p:spPr>
          <a:xfrm>
            <a:off x="6287222" y="3473924"/>
            <a:ext cx="2100340" cy="66164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b="1" dirty="0">
              <a:solidFill>
                <a:schemeClr val="tx1"/>
              </a:solidFill>
            </a:endParaRPr>
          </a:p>
          <a:p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</a:rPr>
              <a:t>   Statutory Verification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34E06AF-0B0A-CA3E-C4C9-C4B24AB04462}"/>
              </a:ext>
            </a:extLst>
          </p:cNvPr>
          <p:cNvSpPr/>
          <p:nvPr/>
        </p:nvSpPr>
        <p:spPr>
          <a:xfrm>
            <a:off x="9239537" y="3511931"/>
            <a:ext cx="1974767" cy="611397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Cross-Doc Check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C7636E9-1357-2E3D-BC07-EE264BF7BBE1}"/>
              </a:ext>
            </a:extLst>
          </p:cNvPr>
          <p:cNvSpPr/>
          <p:nvPr/>
        </p:nvSpPr>
        <p:spPr>
          <a:xfrm>
            <a:off x="6288021" y="4415931"/>
            <a:ext cx="2100340" cy="645004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AI Recommendation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2214E23-470A-E1E1-9B12-417396986A1A}"/>
              </a:ext>
            </a:extLst>
          </p:cNvPr>
          <p:cNvSpPr/>
          <p:nvPr/>
        </p:nvSpPr>
        <p:spPr>
          <a:xfrm>
            <a:off x="407451" y="4490648"/>
            <a:ext cx="2253260" cy="645004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Deterministic Engine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92EEE7-EFC6-E4AC-2C6C-636D6B42B20F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2627968" y="2817757"/>
            <a:ext cx="718028" cy="23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11" name="Straight Arrow Connector 17410">
            <a:extLst>
              <a:ext uri="{FF2B5EF4-FFF2-40B4-BE49-F238E27FC236}">
                <a16:creationId xmlns:a16="http://schemas.microsoft.com/office/drawing/2014/main" id="{05FC5368-C47B-878B-F8A8-169D16D5A430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 flipV="1">
            <a:off x="5446337" y="2812530"/>
            <a:ext cx="840885" cy="28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14" name="Straight Arrow Connector 17413">
            <a:extLst>
              <a:ext uri="{FF2B5EF4-FFF2-40B4-BE49-F238E27FC236}">
                <a16:creationId xmlns:a16="http://schemas.microsoft.com/office/drawing/2014/main" id="{52D720CF-4560-FFB2-C3C7-BC1739ADA44F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8387562" y="2812530"/>
            <a:ext cx="840885" cy="7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16" name="Straight Arrow Connector 17415">
            <a:extLst>
              <a:ext uri="{FF2B5EF4-FFF2-40B4-BE49-F238E27FC236}">
                <a16:creationId xmlns:a16="http://schemas.microsoft.com/office/drawing/2014/main" id="{8E21CEF6-387B-42B3-1AA0-5A80ADA8AB8E}"/>
              </a:ext>
            </a:extLst>
          </p:cNvPr>
          <p:cNvCxnSpPr>
            <a:cxnSpLocks/>
            <a:stCxn id="40" idx="3"/>
            <a:endCxn id="46" idx="1"/>
          </p:cNvCxnSpPr>
          <p:nvPr/>
        </p:nvCxnSpPr>
        <p:spPr>
          <a:xfrm flipV="1">
            <a:off x="2673312" y="3797667"/>
            <a:ext cx="672684" cy="56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24" name="Straight Arrow Connector 17423">
            <a:extLst>
              <a:ext uri="{FF2B5EF4-FFF2-40B4-BE49-F238E27FC236}">
                <a16:creationId xmlns:a16="http://schemas.microsoft.com/office/drawing/2014/main" id="{0BB470E7-A417-7184-6059-E1C01355AB21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5446337" y="3785117"/>
            <a:ext cx="797867" cy="12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27" name="Straight Arrow Connector 17426">
            <a:extLst>
              <a:ext uri="{FF2B5EF4-FFF2-40B4-BE49-F238E27FC236}">
                <a16:creationId xmlns:a16="http://schemas.microsoft.com/office/drawing/2014/main" id="{43FCF8C6-1D3B-E94F-D17C-7F48D933814E}"/>
              </a:ext>
            </a:extLst>
          </p:cNvPr>
          <p:cNvCxnSpPr>
            <a:stCxn id="48" idx="3"/>
            <a:endCxn id="50" idx="1"/>
          </p:cNvCxnSpPr>
          <p:nvPr/>
        </p:nvCxnSpPr>
        <p:spPr>
          <a:xfrm>
            <a:off x="8387562" y="3804745"/>
            <a:ext cx="851975" cy="12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32" name="Connector: Curved 17431">
            <a:extLst>
              <a:ext uri="{FF2B5EF4-FFF2-40B4-BE49-F238E27FC236}">
                <a16:creationId xmlns:a16="http://schemas.microsoft.com/office/drawing/2014/main" id="{441080C7-0741-7C37-761A-303CB52F0163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H="1">
            <a:off x="407451" y="3817630"/>
            <a:ext cx="10806853" cy="995520"/>
          </a:xfrm>
          <a:prstGeom prst="curvedConnector5">
            <a:avLst>
              <a:gd name="adj1" fmla="val -2115"/>
              <a:gd name="adj2" fmla="val 49156"/>
              <a:gd name="adj3" fmla="val 102115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40" name="Straight Arrow Connector 17439">
            <a:extLst>
              <a:ext uri="{FF2B5EF4-FFF2-40B4-BE49-F238E27FC236}">
                <a16:creationId xmlns:a16="http://schemas.microsoft.com/office/drawing/2014/main" id="{D13CF3A2-5D82-54C7-3B2D-43B4981DDB6B}"/>
              </a:ext>
            </a:extLst>
          </p:cNvPr>
          <p:cNvCxnSpPr>
            <a:stCxn id="54" idx="3"/>
            <a:endCxn id="42" idx="1"/>
          </p:cNvCxnSpPr>
          <p:nvPr/>
        </p:nvCxnSpPr>
        <p:spPr>
          <a:xfrm flipV="1">
            <a:off x="2660711" y="4753027"/>
            <a:ext cx="758032" cy="60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42" name="Straight Arrow Connector 17441">
            <a:extLst>
              <a:ext uri="{FF2B5EF4-FFF2-40B4-BE49-F238E27FC236}">
                <a16:creationId xmlns:a16="http://schemas.microsoft.com/office/drawing/2014/main" id="{FFC376B1-F233-D13D-8E6A-21FF4723DE8D}"/>
              </a:ext>
            </a:extLst>
          </p:cNvPr>
          <p:cNvCxnSpPr>
            <a:stCxn id="42" idx="3"/>
            <a:endCxn id="52" idx="1"/>
          </p:cNvCxnSpPr>
          <p:nvPr/>
        </p:nvCxnSpPr>
        <p:spPr>
          <a:xfrm flipV="1">
            <a:off x="5519083" y="4738433"/>
            <a:ext cx="768938" cy="14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444" name="Straight Arrow Connector 17443">
            <a:extLst>
              <a:ext uri="{FF2B5EF4-FFF2-40B4-BE49-F238E27FC236}">
                <a16:creationId xmlns:a16="http://schemas.microsoft.com/office/drawing/2014/main" id="{45D7363F-D2DA-6DE4-2D41-723A70B178B8}"/>
              </a:ext>
            </a:extLst>
          </p:cNvPr>
          <p:cNvCxnSpPr>
            <a:cxnSpLocks/>
            <a:stCxn id="52" idx="3"/>
            <a:endCxn id="44" idx="1"/>
          </p:cNvCxnSpPr>
          <p:nvPr/>
        </p:nvCxnSpPr>
        <p:spPr>
          <a:xfrm flipV="1">
            <a:off x="8388361" y="4706343"/>
            <a:ext cx="851176" cy="32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489" name="Rectangle: Rounded Corners 17488">
            <a:extLst>
              <a:ext uri="{FF2B5EF4-FFF2-40B4-BE49-F238E27FC236}">
                <a16:creationId xmlns:a16="http://schemas.microsoft.com/office/drawing/2014/main" id="{EF70C5C1-35D3-0C3F-89CA-83041AF92A4A}"/>
              </a:ext>
            </a:extLst>
          </p:cNvPr>
          <p:cNvSpPr/>
          <p:nvPr/>
        </p:nvSpPr>
        <p:spPr>
          <a:xfrm>
            <a:off x="110759" y="5355347"/>
            <a:ext cx="11746944" cy="11742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cap="all" dirty="0">
                <a:solidFill>
                  <a:schemeClr val="tx1"/>
                </a:solidFill>
                <a:latin typeface="Bell MT" panose="02020503060305020303" pitchFamily="18" charset="0"/>
              </a:rPr>
              <a:t>3. Important Technical Differentiator</a:t>
            </a:r>
          </a:p>
          <a:p>
            <a:br>
              <a:rPr lang="en-IN" dirty="0"/>
            </a:br>
            <a:endParaRPr lang="en-IN" dirty="0"/>
          </a:p>
        </p:txBody>
      </p:sp>
      <p:cxnSp>
        <p:nvCxnSpPr>
          <p:cNvPr id="17515" name="Connector: Curved 17514">
            <a:extLst>
              <a:ext uri="{FF2B5EF4-FFF2-40B4-BE49-F238E27FC236}">
                <a16:creationId xmlns:a16="http://schemas.microsoft.com/office/drawing/2014/main" id="{F794FA24-34D7-6E40-6545-959C440F7313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 flipH="1">
            <a:off x="420052" y="2820075"/>
            <a:ext cx="10783162" cy="1034294"/>
          </a:xfrm>
          <a:prstGeom prst="curvedConnector5">
            <a:avLst>
              <a:gd name="adj1" fmla="val -2120"/>
              <a:gd name="adj2" fmla="val 50644"/>
              <a:gd name="adj3" fmla="val 10212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517" name="Rectangle: Rounded Corners 17516">
            <a:extLst>
              <a:ext uri="{FF2B5EF4-FFF2-40B4-BE49-F238E27FC236}">
                <a16:creationId xmlns:a16="http://schemas.microsoft.com/office/drawing/2014/main" id="{25EECE5F-2F41-F7FF-270C-C9D320FE69A1}"/>
              </a:ext>
            </a:extLst>
          </p:cNvPr>
          <p:cNvSpPr/>
          <p:nvPr/>
        </p:nvSpPr>
        <p:spPr>
          <a:xfrm>
            <a:off x="165936" y="5833666"/>
            <a:ext cx="3677519" cy="5590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dirty="0"/>
          </a:p>
          <a:p>
            <a:r>
              <a:rPr lang="en-IN" sz="1200" b="1" dirty="0"/>
              <a:t>AI Layer (Interpretation) : </a:t>
            </a:r>
            <a:r>
              <a:rPr lang="en-IN" sz="1200" dirty="0"/>
              <a:t>Interprets clause semantics, extracts evidence, points out discrepancies</a:t>
            </a:r>
            <a:r>
              <a:rPr lang="en-IN" dirty="0"/>
              <a:t>.</a:t>
            </a:r>
          </a:p>
        </p:txBody>
      </p:sp>
      <p:sp>
        <p:nvSpPr>
          <p:cNvPr id="17519" name="Rectangle: Rounded Corners 17518">
            <a:extLst>
              <a:ext uri="{FF2B5EF4-FFF2-40B4-BE49-F238E27FC236}">
                <a16:creationId xmlns:a16="http://schemas.microsoft.com/office/drawing/2014/main" id="{BC260F4F-6BFD-5BCC-6A78-3EB8C9403A6E}"/>
              </a:ext>
            </a:extLst>
          </p:cNvPr>
          <p:cNvSpPr/>
          <p:nvPr/>
        </p:nvSpPr>
        <p:spPr>
          <a:xfrm>
            <a:off x="3950566" y="5836847"/>
            <a:ext cx="4155784" cy="5526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Rules Engine (Computation) : </a:t>
            </a:r>
            <a:r>
              <a:rPr lang="en-IN" sz="1200" dirty="0"/>
              <a:t>Validates numeric thresholds, validity dates, financial &amp; entity criteria.</a:t>
            </a:r>
          </a:p>
        </p:txBody>
      </p:sp>
      <p:sp>
        <p:nvSpPr>
          <p:cNvPr id="17521" name="Rectangle: Rounded Corners 17520">
            <a:extLst>
              <a:ext uri="{FF2B5EF4-FFF2-40B4-BE49-F238E27FC236}">
                <a16:creationId xmlns:a16="http://schemas.microsoft.com/office/drawing/2014/main" id="{60A7996A-2679-1183-33E2-0255E2605149}"/>
              </a:ext>
            </a:extLst>
          </p:cNvPr>
          <p:cNvSpPr/>
          <p:nvPr/>
        </p:nvSpPr>
        <p:spPr>
          <a:xfrm>
            <a:off x="8204036" y="5806477"/>
            <a:ext cx="3576607" cy="5526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Officer (Governance) : </a:t>
            </a:r>
            <a:r>
              <a:rPr lang="en-IN" sz="1200" dirty="0"/>
              <a:t>Retains final legal qualification / disqualification decision authority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490" y="6721477"/>
            <a:ext cx="12191999" cy="2680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1110" y="1500"/>
            <a:ext cx="10972800" cy="503238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4000" y="6696897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89224"/>
            <a:ext cx="1186368" cy="5298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027" y="-62822"/>
            <a:ext cx="1597909" cy="75450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E3E414-1F10-AD90-6745-8B6A3EBECEB4}"/>
              </a:ext>
            </a:extLst>
          </p:cNvPr>
          <p:cNvSpPr/>
          <p:nvPr/>
        </p:nvSpPr>
        <p:spPr>
          <a:xfrm>
            <a:off x="248181" y="873260"/>
            <a:ext cx="3730950" cy="499478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cap="all" dirty="0">
                <a:solidFill>
                  <a:schemeClr val="tx1"/>
                </a:solidFill>
              </a:rPr>
              <a:t>            Technically Feasible</a:t>
            </a:r>
          </a:p>
          <a:p>
            <a:endParaRPr lang="en-IN" sz="1500" b="1" cap="all" dirty="0">
              <a:solidFill>
                <a:schemeClr val="tx1"/>
              </a:solidFill>
            </a:endParaRPr>
          </a:p>
          <a:p>
            <a:r>
              <a:rPr lang="en-IN" sz="1500" b="1" dirty="0">
                <a:solidFill>
                  <a:schemeClr val="tx1"/>
                </a:solidFill>
              </a:rPr>
              <a:t>Existing AI + Cloud Infrastructure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LLM Requirement Parsing:</a:t>
            </a:r>
            <a:r>
              <a:rPr lang="en-IN" sz="1500" dirty="0">
                <a:solidFill>
                  <a:schemeClr val="tx1"/>
                </a:solidFill>
              </a:rPr>
              <a:t> Semantic clause extraction using </a:t>
            </a:r>
            <a:r>
              <a:rPr lang="en-IN" sz="1500" dirty="0" err="1">
                <a:solidFill>
                  <a:schemeClr val="tx1"/>
                </a:solidFill>
              </a:rPr>
              <a:t>Groq</a:t>
            </a:r>
            <a:r>
              <a:rPr lang="en-IN" sz="1500" dirty="0">
                <a:solidFill>
                  <a:schemeClr val="tx1"/>
                </a:solidFill>
              </a:rPr>
              <a:t> LLM.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OCR &amp; Document Extraction:</a:t>
            </a:r>
            <a:r>
              <a:rPr lang="en-IN" sz="1500" dirty="0">
                <a:solidFill>
                  <a:schemeClr val="tx1"/>
                </a:solidFill>
              </a:rPr>
              <a:t> Automatic digitization of scanned bidder PDFs &amp; tables.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Structured Compliance Rules:</a:t>
            </a:r>
            <a:r>
              <a:rPr lang="en-IN" sz="1500" dirty="0">
                <a:solidFill>
                  <a:schemeClr val="tx1"/>
                </a:solidFill>
              </a:rPr>
              <a:t> Deterministic rule-matching engine.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500" b="1" dirty="0" err="1">
                <a:solidFill>
                  <a:schemeClr val="tx1"/>
                </a:solidFill>
              </a:rPr>
              <a:t>Supabase</a:t>
            </a:r>
            <a:r>
              <a:rPr lang="en-IN" sz="1500" b="1" dirty="0">
                <a:solidFill>
                  <a:schemeClr val="tx1"/>
                </a:solidFill>
              </a:rPr>
              <a:t> DB &amp; Storage:</a:t>
            </a:r>
            <a:r>
              <a:rPr lang="en-IN" sz="1500" dirty="0">
                <a:solidFill>
                  <a:schemeClr val="tx1"/>
                </a:solidFill>
              </a:rPr>
              <a:t> Cloud relational storage with strict RLS policies.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Modular Adapters:</a:t>
            </a:r>
            <a:r>
              <a:rPr lang="en-IN" sz="1500" dirty="0">
                <a:solidFill>
                  <a:schemeClr val="tx1"/>
                </a:solidFill>
              </a:rPr>
              <a:t> Extensible integrations for statutory source verification.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Automated PDF Reports:</a:t>
            </a:r>
            <a:r>
              <a:rPr lang="en-IN" sz="1500" dirty="0">
                <a:solidFill>
                  <a:schemeClr val="tx1"/>
                </a:solidFill>
              </a:rPr>
              <a:t> Immediate generation of audit-ready compliance dossiers.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87AEDB-D33E-8457-7D09-C9DA13633E36}"/>
              </a:ext>
            </a:extLst>
          </p:cNvPr>
          <p:cNvSpPr/>
          <p:nvPr/>
        </p:nvSpPr>
        <p:spPr>
          <a:xfrm>
            <a:off x="4185092" y="887926"/>
            <a:ext cx="3730950" cy="499478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cap="all" dirty="0">
                <a:solidFill>
                  <a:schemeClr val="tx1"/>
                </a:solidFill>
              </a:rPr>
              <a:t>                 Key Challenges</a:t>
            </a:r>
          </a:p>
          <a:p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Operational &amp; Data Bottlenecks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Government API Availability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Different portal endpoints (GSTN, MCA, Udyam) possess distinct access mechanisms and rate limits.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Document Variability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Bidder submissions vary wildly in document quality, scan resolution, formats, and structural layouts.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Verification Reliability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Generative AI models alone cannot be trusted for 100% deterministic mathematical compliance.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Sensitive Procurement Data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Proprietary commercial bids and government tender documents require strict access governance.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3A010B-2ACE-CE60-0D32-7147FA78A07A}"/>
              </a:ext>
            </a:extLst>
          </p:cNvPr>
          <p:cNvSpPr/>
          <p:nvPr/>
        </p:nvSpPr>
        <p:spPr>
          <a:xfrm>
            <a:off x="8122003" y="844062"/>
            <a:ext cx="3730950" cy="499478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cap="all" dirty="0">
                <a:solidFill>
                  <a:schemeClr val="tx1"/>
                </a:solidFill>
              </a:rPr>
              <a:t>Mitigation Strategies</a:t>
            </a:r>
          </a:p>
          <a:p>
            <a:r>
              <a:rPr lang="en-IN" sz="1500" b="1" dirty="0">
                <a:solidFill>
                  <a:schemeClr val="tx1"/>
                </a:solidFill>
              </a:rPr>
              <a:t>Architectural Safeguards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Provider Architecture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Government source integrations use modular, hot-swappable API abstraction layers.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Hybrid AI + Deterministic Rules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AI interprets clause context; deterministic code strictly validates thresholds &amp; numbers.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Evidence-First Verification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Every compliance finding explicitly retains document, page, line, and source citations.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chemeClr val="tx1"/>
                </a:solidFill>
              </a:rPr>
              <a:t>Secure Access Control</a:t>
            </a: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solidFill>
                  <a:schemeClr val="tx1"/>
                </a:solidFill>
              </a:rPr>
              <a:t>Enforces Role-Based Access Control (RBAC), Row Level Security (RLS), and private storage buckets.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60EFBB-06D0-8899-1C51-1A05149131F4}"/>
              </a:ext>
            </a:extLst>
          </p:cNvPr>
          <p:cNvSpPr/>
          <p:nvPr/>
        </p:nvSpPr>
        <p:spPr>
          <a:xfrm>
            <a:off x="117112" y="6043143"/>
            <a:ext cx="11957775" cy="5032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EC44A9-DE39-67D8-FB4B-0E775195BD41}"/>
              </a:ext>
            </a:extLst>
          </p:cNvPr>
          <p:cNvSpPr/>
          <p:nvPr/>
        </p:nvSpPr>
        <p:spPr>
          <a:xfrm>
            <a:off x="248181" y="6118797"/>
            <a:ext cx="3558718" cy="3651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Prototype-Ready Today</a:t>
            </a:r>
            <a:endParaRPr lang="en-I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018BD9-6266-6336-CE85-02017D05DD24}"/>
              </a:ext>
            </a:extLst>
          </p:cNvPr>
          <p:cNvSpPr/>
          <p:nvPr/>
        </p:nvSpPr>
        <p:spPr>
          <a:xfrm>
            <a:off x="3937968" y="6118797"/>
            <a:ext cx="4024932" cy="3651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Integration-Ready for Authorised Govt Sources</a:t>
            </a:r>
            <a:endParaRPr lang="en-IN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1EA62E-B360-1FAB-EA2B-A143F157E3ED}"/>
              </a:ext>
            </a:extLst>
          </p:cNvPr>
          <p:cNvSpPr/>
          <p:nvPr/>
        </p:nvSpPr>
        <p:spPr>
          <a:xfrm>
            <a:off x="8153418" y="6092332"/>
            <a:ext cx="3730950" cy="3651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Scalable Across CPSE Procurement Workflows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46606"/>
            <a:ext cx="12191999" cy="21139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17896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38979" y="653891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8" y="1500"/>
            <a:ext cx="950394" cy="50323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206" y="1500"/>
            <a:ext cx="1725730" cy="8148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A88EA6-BAF6-9F97-A904-C2A2BE52DB78}"/>
              </a:ext>
            </a:extLst>
          </p:cNvPr>
          <p:cNvSpPr/>
          <p:nvPr/>
        </p:nvSpPr>
        <p:spPr>
          <a:xfrm>
            <a:off x="4011562" y="710511"/>
            <a:ext cx="3726426" cy="492400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cap="all" dirty="0"/>
              <a:t>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9E84D-FDF0-A219-9F87-4D93F3B96AA0}"/>
              </a:ext>
            </a:extLst>
          </p:cNvPr>
          <p:cNvSpPr/>
          <p:nvPr/>
        </p:nvSpPr>
        <p:spPr>
          <a:xfrm>
            <a:off x="103071" y="710511"/>
            <a:ext cx="3726426" cy="4924008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F19F7-3C05-1AF4-5B39-4B4582663B58}"/>
              </a:ext>
            </a:extLst>
          </p:cNvPr>
          <p:cNvSpPr/>
          <p:nvPr/>
        </p:nvSpPr>
        <p:spPr>
          <a:xfrm>
            <a:off x="7942979" y="710511"/>
            <a:ext cx="3785419" cy="4924008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8C1A33-1E7E-B2DD-9126-38CB8543461A}"/>
              </a:ext>
            </a:extLst>
          </p:cNvPr>
          <p:cNvSpPr txBox="1"/>
          <p:nvPr/>
        </p:nvSpPr>
        <p:spPr>
          <a:xfrm>
            <a:off x="4499159" y="2300945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cap="all" dirty="0"/>
              <a:t> </a:t>
            </a:r>
            <a:r>
              <a:rPr lang="en-IN" b="1" cap="all" dirty="0">
                <a:solidFill>
                  <a:schemeClr val="bg1"/>
                </a:solidFill>
              </a:rPr>
              <a:t>TARGET EXPECTED IMPACT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226D6A-F209-7312-95BE-8209943B52D3}"/>
              </a:ext>
            </a:extLst>
          </p:cNvPr>
          <p:cNvSpPr txBox="1"/>
          <p:nvPr/>
        </p:nvSpPr>
        <p:spPr>
          <a:xfrm>
            <a:off x="4891547" y="2520322"/>
            <a:ext cx="2408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60–80%</a:t>
            </a:r>
            <a:endParaRPr lang="en-IN" sz="4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F74A0-C019-C9C5-9947-EA0A1B6FC2AA}"/>
              </a:ext>
            </a:extLst>
          </p:cNvPr>
          <p:cNvSpPr txBox="1"/>
          <p:nvPr/>
        </p:nvSpPr>
        <p:spPr>
          <a:xfrm>
            <a:off x="4330211" y="3135874"/>
            <a:ext cx="3138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Potential reduction in verification effort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1F6789-72CC-C3E9-AE50-1DDDB0A02564}"/>
              </a:ext>
            </a:extLst>
          </p:cNvPr>
          <p:cNvSpPr txBox="1"/>
          <p:nvPr/>
        </p:nvSpPr>
        <p:spPr>
          <a:xfrm>
            <a:off x="4317093" y="3455356"/>
            <a:ext cx="3320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</a:rPr>
              <a:t>Derived directly from SIH Problem Statement target evaluation parameters </a:t>
            </a:r>
          </a:p>
          <a:p>
            <a:r>
              <a:rPr lang="en-IN" sz="1200" dirty="0">
                <a:solidFill>
                  <a:schemeClr val="bg2"/>
                </a:solidFill>
              </a:rPr>
              <a:t>for public procurement streamlining</a:t>
            </a:r>
            <a:r>
              <a:rPr lang="en-IN" sz="1200" dirty="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78682D-DE9E-836D-820C-36A56D6AACE5}"/>
              </a:ext>
            </a:extLst>
          </p:cNvPr>
          <p:cNvSpPr/>
          <p:nvPr/>
        </p:nvSpPr>
        <p:spPr>
          <a:xfrm>
            <a:off x="304801" y="1021960"/>
            <a:ext cx="1543248" cy="2172313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cap="all" dirty="0">
                <a:solidFill>
                  <a:schemeClr val="tx2"/>
                </a:solidFill>
              </a:rPr>
              <a:t>Faster</a:t>
            </a:r>
            <a:endParaRPr lang="en-IN" sz="1200" dirty="0">
              <a:solidFill>
                <a:schemeClr val="tx2"/>
              </a:solidFill>
            </a:endParaRPr>
          </a:p>
          <a:p>
            <a:r>
              <a:rPr lang="en-IN" sz="1200" dirty="0">
                <a:solidFill>
                  <a:schemeClr val="tx2"/>
                </a:solidFill>
              </a:rPr>
              <a:t>Automated document cross-checking speeds up manual evaluation cycles.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CB15EF-B52B-584F-2A11-E4DAC0FD3FA4}"/>
              </a:ext>
            </a:extLst>
          </p:cNvPr>
          <p:cNvSpPr/>
          <p:nvPr/>
        </p:nvSpPr>
        <p:spPr>
          <a:xfrm>
            <a:off x="1966284" y="1000202"/>
            <a:ext cx="1607740" cy="2172313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cap="all" dirty="0">
                <a:solidFill>
                  <a:schemeClr val="tx2"/>
                </a:solidFill>
              </a:rPr>
              <a:t>Clearer</a:t>
            </a:r>
            <a:endParaRPr lang="en-IN" sz="1200" dirty="0">
              <a:solidFill>
                <a:schemeClr val="tx2"/>
              </a:solidFill>
            </a:endParaRPr>
          </a:p>
          <a:p>
            <a:r>
              <a:rPr lang="en-IN" sz="1200" dirty="0">
                <a:solidFill>
                  <a:schemeClr val="tx2"/>
                </a:solidFill>
              </a:rPr>
              <a:t>Evidence-backed compliance findings linked directly to source pages.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A15839-831F-7844-0F69-CE175EAFF9D7}"/>
              </a:ext>
            </a:extLst>
          </p:cNvPr>
          <p:cNvSpPr/>
          <p:nvPr/>
        </p:nvSpPr>
        <p:spPr>
          <a:xfrm>
            <a:off x="304801" y="3297160"/>
            <a:ext cx="1543249" cy="2172313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cap="all" dirty="0">
                <a:solidFill>
                  <a:schemeClr val="tx2"/>
                </a:solidFill>
              </a:rPr>
              <a:t>Safer</a:t>
            </a:r>
            <a:endParaRPr lang="en-IN" sz="1200" dirty="0">
              <a:solidFill>
                <a:schemeClr val="tx2"/>
              </a:solidFill>
            </a:endParaRPr>
          </a:p>
          <a:p>
            <a:r>
              <a:rPr lang="en-IN" sz="1200" dirty="0">
                <a:solidFill>
                  <a:schemeClr val="tx2"/>
                </a:solidFill>
              </a:rPr>
              <a:t>Early identification of hidden risk factors and cross-doc</a:t>
            </a:r>
          </a:p>
          <a:p>
            <a:r>
              <a:rPr lang="en-IN" sz="1200" dirty="0">
                <a:solidFill>
                  <a:schemeClr val="tx2"/>
                </a:solidFill>
              </a:rPr>
              <a:t>discrepancies</a:t>
            </a:r>
            <a:r>
              <a:rPr lang="en-IN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DD80F-9660-AAD4-9640-31FC5A162392}"/>
              </a:ext>
            </a:extLst>
          </p:cNvPr>
          <p:cNvSpPr/>
          <p:nvPr/>
        </p:nvSpPr>
        <p:spPr>
          <a:xfrm>
            <a:off x="1948589" y="3297160"/>
            <a:ext cx="1607740" cy="2172313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cap="all" dirty="0">
                <a:solidFill>
                  <a:schemeClr val="tx2"/>
                </a:solidFill>
              </a:rPr>
              <a:t>Traceable</a:t>
            </a:r>
            <a:endParaRPr lang="en-IN" sz="1200" dirty="0">
              <a:solidFill>
                <a:schemeClr val="tx2"/>
              </a:solidFill>
            </a:endParaRPr>
          </a:p>
          <a:p>
            <a:r>
              <a:rPr lang="en-IN" sz="1200" dirty="0">
                <a:solidFill>
                  <a:schemeClr val="tx2"/>
                </a:solidFill>
              </a:rPr>
              <a:t>Complete audit log history protecting officers during statutory reviews.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9E160B-1499-E8BD-9AFA-21AC4137B35C}"/>
              </a:ext>
            </a:extLst>
          </p:cNvPr>
          <p:cNvSpPr txBox="1"/>
          <p:nvPr/>
        </p:nvSpPr>
        <p:spPr>
          <a:xfrm>
            <a:off x="180105" y="695196"/>
            <a:ext cx="29234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cap="all" dirty="0">
                <a:solidFill>
                  <a:schemeClr val="accent1"/>
                </a:solidFill>
              </a:rPr>
              <a:t>For Procurement Officers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91F639-E0C1-6872-F44C-A71C63ED0F5B}"/>
              </a:ext>
            </a:extLst>
          </p:cNvPr>
          <p:cNvSpPr/>
          <p:nvPr/>
        </p:nvSpPr>
        <p:spPr>
          <a:xfrm>
            <a:off x="8209935" y="1126083"/>
            <a:ext cx="3234813" cy="70271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accent1"/>
                </a:solidFill>
              </a:rPr>
              <a:t>Standardized Verification</a:t>
            </a:r>
            <a:endParaRPr lang="en-IN" sz="1200" dirty="0">
              <a:solidFill>
                <a:schemeClr val="accent1"/>
              </a:solidFill>
            </a:endParaRPr>
          </a:p>
          <a:p>
            <a:r>
              <a:rPr lang="en-IN" sz="1200" dirty="0">
                <a:solidFill>
                  <a:schemeClr val="accent1"/>
                </a:solidFill>
              </a:rPr>
              <a:t>Consistent, unbiased compliance evaluation rules applied uniformly to all bidders.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4A5677-73E8-F072-5F66-E84155725D83}"/>
              </a:ext>
            </a:extLst>
          </p:cNvPr>
          <p:cNvSpPr/>
          <p:nvPr/>
        </p:nvSpPr>
        <p:spPr>
          <a:xfrm>
            <a:off x="8225585" y="1983737"/>
            <a:ext cx="3234813" cy="70271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accent1"/>
                </a:solidFill>
              </a:rPr>
              <a:t>Reduced Human Error</a:t>
            </a:r>
            <a:endParaRPr lang="en-IN" sz="1200" dirty="0">
              <a:solidFill>
                <a:schemeClr val="accent1"/>
              </a:solidFill>
            </a:endParaRPr>
          </a:p>
          <a:p>
            <a:r>
              <a:rPr lang="en-IN" sz="1200" dirty="0">
                <a:solidFill>
                  <a:schemeClr val="accent1"/>
                </a:solidFill>
              </a:rPr>
              <a:t>Prevents overlooked eligibility criteria, invalid tax filings, or missing certificates.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110669-4103-3448-A95B-B36134D44A79}"/>
              </a:ext>
            </a:extLst>
          </p:cNvPr>
          <p:cNvSpPr/>
          <p:nvPr/>
        </p:nvSpPr>
        <p:spPr>
          <a:xfrm>
            <a:off x="8225585" y="2872660"/>
            <a:ext cx="3234813" cy="70271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accent1"/>
                </a:solidFill>
              </a:rPr>
              <a:t>Transparent Evaluation</a:t>
            </a:r>
            <a:endParaRPr lang="en-IN" sz="1200" dirty="0">
              <a:solidFill>
                <a:schemeClr val="accent1"/>
              </a:solidFill>
            </a:endParaRPr>
          </a:p>
          <a:p>
            <a:r>
              <a:rPr lang="en-IN" sz="1200" dirty="0">
                <a:solidFill>
                  <a:schemeClr val="accent1"/>
                </a:solidFill>
              </a:rPr>
              <a:t>Fully explainable evidence objects and automated recommendation reasoning.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065FDA-940E-F285-108C-A64D045C1828}"/>
              </a:ext>
            </a:extLst>
          </p:cNvPr>
          <p:cNvSpPr/>
          <p:nvPr/>
        </p:nvSpPr>
        <p:spPr>
          <a:xfrm>
            <a:off x="8225585" y="3820188"/>
            <a:ext cx="3234813" cy="702717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accent1"/>
                </a:solidFill>
              </a:rPr>
              <a:t>Scalable Procurement</a:t>
            </a:r>
            <a:endParaRPr lang="en-IN" sz="1200" dirty="0">
              <a:solidFill>
                <a:schemeClr val="accent1"/>
              </a:solidFill>
            </a:endParaRPr>
          </a:p>
          <a:p>
            <a:r>
              <a:rPr lang="en-IN" sz="1200" dirty="0">
                <a:solidFill>
                  <a:schemeClr val="accent1"/>
                </a:solidFill>
              </a:rPr>
              <a:t>Reusable verification architecture across CPSEs and ministry workflows</a:t>
            </a:r>
            <a:r>
              <a:rPr lang="en-IN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F7A7FA-32DA-11C7-3F60-120CA278EC8F}"/>
              </a:ext>
            </a:extLst>
          </p:cNvPr>
          <p:cNvSpPr txBox="1"/>
          <p:nvPr/>
        </p:nvSpPr>
        <p:spPr>
          <a:xfrm>
            <a:off x="8134522" y="784424"/>
            <a:ext cx="26882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cap="all" dirty="0">
                <a:solidFill>
                  <a:schemeClr val="accent1"/>
                </a:solidFill>
              </a:rPr>
              <a:t>For Organisations</a:t>
            </a:r>
          </a:p>
          <a:p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DECF8-47C2-242D-76A9-95D5113B5DA7}"/>
              </a:ext>
            </a:extLst>
          </p:cNvPr>
          <p:cNvSpPr/>
          <p:nvPr/>
        </p:nvSpPr>
        <p:spPr>
          <a:xfrm>
            <a:off x="103071" y="5810865"/>
            <a:ext cx="11725135" cy="770208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DEB903-CFC5-804D-B893-F804B265B3E9}"/>
              </a:ext>
            </a:extLst>
          </p:cNvPr>
          <p:cNvSpPr/>
          <p:nvPr/>
        </p:nvSpPr>
        <p:spPr>
          <a:xfrm>
            <a:off x="218825" y="5995545"/>
            <a:ext cx="1786179" cy="55107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/>
              <a:t>Less Manual Cross-Checking</a:t>
            </a:r>
            <a:endParaRPr lang="en-IN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7D3810-D56D-9525-096C-33B310104C66}"/>
              </a:ext>
            </a:extLst>
          </p:cNvPr>
          <p:cNvSpPr/>
          <p:nvPr/>
        </p:nvSpPr>
        <p:spPr>
          <a:xfrm>
            <a:off x="2171304" y="6014448"/>
            <a:ext cx="1786179" cy="55107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/>
              <a:t>Faster Evaluation</a:t>
            </a:r>
            <a:endParaRPr lang="en-IN" sz="1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BAE0B4-BECD-8883-B31D-26EA06ACBF0D}"/>
              </a:ext>
            </a:extLst>
          </p:cNvPr>
          <p:cNvSpPr/>
          <p:nvPr/>
        </p:nvSpPr>
        <p:spPr>
          <a:xfrm>
            <a:off x="4104220" y="6014448"/>
            <a:ext cx="1786179" cy="55107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/>
              <a:t>Fewer Inconsistencies</a:t>
            </a:r>
            <a:endParaRPr lang="en-IN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E034EF-02B3-B324-E4B5-A0BCD5D068E7}"/>
              </a:ext>
            </a:extLst>
          </p:cNvPr>
          <p:cNvSpPr/>
          <p:nvPr/>
        </p:nvSpPr>
        <p:spPr>
          <a:xfrm>
            <a:off x="6004232" y="6007046"/>
            <a:ext cx="1786179" cy="55107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/>
              <a:t>Better Bidder Screening</a:t>
            </a:r>
            <a:endParaRPr lang="en-IN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60FD31-1C00-1869-A382-B436E71DD467}"/>
              </a:ext>
            </a:extLst>
          </p:cNvPr>
          <p:cNvSpPr/>
          <p:nvPr/>
        </p:nvSpPr>
        <p:spPr>
          <a:xfrm>
            <a:off x="7904244" y="5995545"/>
            <a:ext cx="1786179" cy="55107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IN" dirty="0"/>
            </a:br>
            <a:r>
              <a:rPr lang="en-IN" sz="1200" b="1" cap="all" dirty="0"/>
              <a:t>Greater Transparency</a:t>
            </a:r>
            <a:endParaRPr lang="en-IN" sz="1200" dirty="0"/>
          </a:p>
          <a:p>
            <a:endParaRPr lang="en-IN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01EFE5-E561-31E4-0FA5-166177151056}"/>
              </a:ext>
            </a:extLst>
          </p:cNvPr>
          <p:cNvSpPr/>
          <p:nvPr/>
        </p:nvSpPr>
        <p:spPr>
          <a:xfrm>
            <a:off x="9796221" y="5994320"/>
            <a:ext cx="1786179" cy="55107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cap="all" dirty="0"/>
              <a:t>Complete Traceability</a:t>
            </a:r>
            <a:endParaRPr lang="en-IN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08291D-F7CF-72E1-EF91-D2475F196B8C}"/>
              </a:ext>
            </a:extLst>
          </p:cNvPr>
          <p:cNvSpPr txBox="1"/>
          <p:nvPr/>
        </p:nvSpPr>
        <p:spPr>
          <a:xfrm>
            <a:off x="103071" y="5684348"/>
            <a:ext cx="45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cap="all" dirty="0"/>
              <a:t> </a:t>
            </a:r>
            <a:r>
              <a:rPr lang="en-IN" sz="1200" b="1" cap="all" dirty="0"/>
              <a:t>End-to-End Value Delivery Chain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43570"/>
            <a:ext cx="12191999" cy="1144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588399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92784" y="6596647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50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1500"/>
            <a:ext cx="1666736" cy="7870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EC7B0B-9EEF-F069-3C41-77D6BAFF3654}"/>
              </a:ext>
            </a:extLst>
          </p:cNvPr>
          <p:cNvSpPr/>
          <p:nvPr/>
        </p:nvSpPr>
        <p:spPr>
          <a:xfrm>
            <a:off x="212871" y="761168"/>
            <a:ext cx="5732207" cy="25144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CCBD1-B053-1263-05A4-7C8C0E7D7FAD}"/>
              </a:ext>
            </a:extLst>
          </p:cNvPr>
          <p:cNvSpPr/>
          <p:nvPr/>
        </p:nvSpPr>
        <p:spPr>
          <a:xfrm>
            <a:off x="250219" y="3481207"/>
            <a:ext cx="5732207" cy="25144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8ED711-CC62-F8A8-99DD-F7CF9FB086F8}"/>
              </a:ext>
            </a:extLst>
          </p:cNvPr>
          <p:cNvSpPr/>
          <p:nvPr/>
        </p:nvSpPr>
        <p:spPr>
          <a:xfrm>
            <a:off x="6275084" y="3518703"/>
            <a:ext cx="5732207" cy="25144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145D6-1354-FB81-CF19-599AF5B84767}"/>
              </a:ext>
            </a:extLst>
          </p:cNvPr>
          <p:cNvSpPr/>
          <p:nvPr/>
        </p:nvSpPr>
        <p:spPr>
          <a:xfrm>
            <a:off x="6250200" y="761169"/>
            <a:ext cx="5732207" cy="25144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77F86-6C38-AADF-C24B-9DE3E338213D}"/>
              </a:ext>
            </a:extLst>
          </p:cNvPr>
          <p:cNvSpPr txBox="1"/>
          <p:nvPr/>
        </p:nvSpPr>
        <p:spPr>
          <a:xfrm>
            <a:off x="300126" y="488144"/>
            <a:ext cx="38935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cap="all" dirty="0"/>
            </a:br>
            <a:r>
              <a:rPr lang="en-IN" sz="1400" b="1" cap="all" dirty="0"/>
              <a:t>1. Problem Statement Context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39A27D-B044-370A-31D0-120C03F0CB51}"/>
              </a:ext>
            </a:extLst>
          </p:cNvPr>
          <p:cNvSpPr txBox="1"/>
          <p:nvPr/>
        </p:nvSpPr>
        <p:spPr>
          <a:xfrm>
            <a:off x="5337433" y="761168"/>
            <a:ext cx="865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REF 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EA43B5-014B-FE0D-D8EF-1A14A606B13A}"/>
              </a:ext>
            </a:extLst>
          </p:cNvPr>
          <p:cNvSpPr txBox="1"/>
          <p:nvPr/>
        </p:nvSpPr>
        <p:spPr>
          <a:xfrm>
            <a:off x="11259171" y="772469"/>
            <a:ext cx="8554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REF 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9473A-8C70-470F-16C0-27624BCEF4F5}"/>
              </a:ext>
            </a:extLst>
          </p:cNvPr>
          <p:cNvSpPr txBox="1"/>
          <p:nvPr/>
        </p:nvSpPr>
        <p:spPr>
          <a:xfrm>
            <a:off x="6260828" y="808834"/>
            <a:ext cx="5034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cap="all" dirty="0"/>
              <a:t>2. Government Procurement Ecosystems</a:t>
            </a:r>
          </a:p>
          <a:p>
            <a:endParaRPr lang="en-IN" dirty="0"/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6E3D370C-8901-38E7-1864-B186AD71376D}"/>
              </a:ext>
            </a:extLst>
          </p:cNvPr>
          <p:cNvSpPr/>
          <p:nvPr/>
        </p:nvSpPr>
        <p:spPr>
          <a:xfrm>
            <a:off x="452284" y="1681316"/>
            <a:ext cx="5211097" cy="1273631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48F97758-76BB-49CA-9E0A-8B3756B50491}"/>
              </a:ext>
            </a:extLst>
          </p:cNvPr>
          <p:cNvSpPr/>
          <p:nvPr/>
        </p:nvSpPr>
        <p:spPr>
          <a:xfrm>
            <a:off x="698979" y="1872778"/>
            <a:ext cx="3395466" cy="367795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1"/>
                </a:solidFill>
              </a:rPr>
              <a:t>Smart India Hackathon 2026 — SIH26100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28330-1106-77B2-5268-06150DB602A8}"/>
              </a:ext>
            </a:extLst>
          </p:cNvPr>
          <p:cNvSpPr txBox="1"/>
          <p:nvPr/>
        </p:nvSpPr>
        <p:spPr>
          <a:xfrm>
            <a:off x="625928" y="2321661"/>
            <a:ext cx="4711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AI-Powered Integrated Bid Compliance Verification Platform for </a:t>
            </a:r>
            <a:r>
              <a:rPr lang="en-IN" sz="1400" b="1" dirty="0" err="1"/>
              <a:t>GeM</a:t>
            </a:r>
            <a:r>
              <a:rPr lang="en-IN" sz="1400" b="1" dirty="0"/>
              <a:t> Procurement Ecosystems</a:t>
            </a:r>
            <a:endParaRPr lang="en-IN" sz="1400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13BB4991-0084-3513-AC40-3E5D13C740ED}"/>
              </a:ext>
            </a:extLst>
          </p:cNvPr>
          <p:cNvSpPr/>
          <p:nvPr/>
        </p:nvSpPr>
        <p:spPr>
          <a:xfrm>
            <a:off x="6480547" y="1255485"/>
            <a:ext cx="4880483" cy="940130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7C2EBD5-B445-2A30-4E21-31D42213C595}"/>
              </a:ext>
            </a:extLst>
          </p:cNvPr>
          <p:cNvSpPr/>
          <p:nvPr/>
        </p:nvSpPr>
        <p:spPr>
          <a:xfrm>
            <a:off x="6480546" y="2295177"/>
            <a:ext cx="4880483" cy="88089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D2BC2AA5-8B7D-3964-AC95-6E2BA6E8E2D8}"/>
              </a:ext>
            </a:extLst>
          </p:cNvPr>
          <p:cNvSpPr/>
          <p:nvPr/>
        </p:nvSpPr>
        <p:spPr>
          <a:xfrm>
            <a:off x="6715432" y="1349918"/>
            <a:ext cx="2022168" cy="264085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55CF7-B137-9C24-50DB-CAD5489920B6}"/>
              </a:ext>
            </a:extLst>
          </p:cNvPr>
          <p:cNvSpPr txBox="1"/>
          <p:nvPr/>
        </p:nvSpPr>
        <p:spPr>
          <a:xfrm>
            <a:off x="6715432" y="1324616"/>
            <a:ext cx="1058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err="1">
                <a:solidFill>
                  <a:schemeClr val="accent1"/>
                </a:solidFill>
              </a:rPr>
              <a:t>GeM</a:t>
            </a:r>
            <a:r>
              <a:rPr lang="en-IN" sz="1400" b="1" dirty="0">
                <a:solidFill>
                  <a:schemeClr val="accent1"/>
                </a:solidFill>
              </a:rPr>
              <a:t> Portal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A7D24-EC9A-9C33-BC66-E59ABCC52A69}"/>
              </a:ext>
            </a:extLst>
          </p:cNvPr>
          <p:cNvSpPr txBox="1"/>
          <p:nvPr/>
        </p:nvSpPr>
        <p:spPr>
          <a:xfrm>
            <a:off x="6636774" y="1652394"/>
            <a:ext cx="3903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Government e-Marketplace public procurement ecosystem standards &amp; rules.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18BFEC98-3233-BFEC-D447-FCD845660BF0}"/>
              </a:ext>
            </a:extLst>
          </p:cNvPr>
          <p:cNvSpPr/>
          <p:nvPr/>
        </p:nvSpPr>
        <p:spPr>
          <a:xfrm>
            <a:off x="6677740" y="2352951"/>
            <a:ext cx="2046749" cy="320605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1"/>
                </a:solidFill>
              </a:rPr>
              <a:t>CPPP System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D0AF58-3A3D-4A1F-7E65-0EDB6F8A6E0A}"/>
              </a:ext>
            </a:extLst>
          </p:cNvPr>
          <p:cNvSpPr txBox="1"/>
          <p:nvPr/>
        </p:nvSpPr>
        <p:spPr>
          <a:xfrm>
            <a:off x="6583261" y="2697212"/>
            <a:ext cx="3323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Central Public Procurement Portal tender guidelines &amp; notice specifications.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DE9EF1-7682-36D0-F624-57D64050A6E7}"/>
              </a:ext>
            </a:extLst>
          </p:cNvPr>
          <p:cNvSpPr txBox="1"/>
          <p:nvPr/>
        </p:nvSpPr>
        <p:spPr>
          <a:xfrm>
            <a:off x="300126" y="3236228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br>
              <a:rPr lang="en-IN" sz="1800" b="1" i="0" cap="all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400" b="1" i="0" cap="all" dirty="0">
                <a:solidFill>
                  <a:schemeClr val="tx1"/>
                </a:solidFill>
                <a:effectLst/>
                <a:latin typeface="Calibri" pitchFamily="34" charset="0"/>
              </a:rPr>
              <a:t>3. Statutory &amp; Regulatory Verification Sources</a:t>
            </a:r>
            <a:endParaRPr lang="en-IN" sz="1400" b="1" i="0" cap="all" dirty="0">
              <a:solidFill>
                <a:srgbClr val="059669"/>
              </a:solidFill>
              <a:effectLst/>
              <a:latin typeface="Plus Jakarta Sans"/>
            </a:endParaRPr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82E2B4BA-64AF-4B5A-AD6F-1676BEBD7682}"/>
              </a:ext>
            </a:extLst>
          </p:cNvPr>
          <p:cNvSpPr/>
          <p:nvPr/>
        </p:nvSpPr>
        <p:spPr>
          <a:xfrm>
            <a:off x="361957" y="4060342"/>
            <a:ext cx="1279031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id="{4E75DAE4-D873-A946-ED70-BE9342CB4D08}"/>
              </a:ext>
            </a:extLst>
          </p:cNvPr>
          <p:cNvSpPr/>
          <p:nvPr/>
        </p:nvSpPr>
        <p:spPr>
          <a:xfrm>
            <a:off x="380736" y="4961862"/>
            <a:ext cx="1260251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tx1"/>
              </a:solidFill>
            </a:endParaRPr>
          </a:p>
          <a:p>
            <a:pPr algn="ctr"/>
            <a:r>
              <a:rPr lang="en-IN" sz="1100" dirty="0">
                <a:solidFill>
                  <a:schemeClr val="tx1"/>
                </a:solidFill>
              </a:rPr>
              <a:t>MSME Ecosystem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3DE52CEC-41C2-6CC0-D1AC-FF77FF34E99A}"/>
              </a:ext>
            </a:extLst>
          </p:cNvPr>
          <p:cNvSpPr/>
          <p:nvPr/>
        </p:nvSpPr>
        <p:spPr>
          <a:xfrm>
            <a:off x="1740428" y="4964907"/>
            <a:ext cx="1148848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id="{2AEA64AE-236A-69A8-BBF3-3489F668A1F3}"/>
              </a:ext>
            </a:extLst>
          </p:cNvPr>
          <p:cNvSpPr/>
          <p:nvPr/>
        </p:nvSpPr>
        <p:spPr>
          <a:xfrm>
            <a:off x="2977016" y="4985468"/>
            <a:ext cx="1267325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4B1FC9F4-762C-AD44-3CCA-9C66F4B6F8B2}"/>
              </a:ext>
            </a:extLst>
          </p:cNvPr>
          <p:cNvSpPr/>
          <p:nvPr/>
        </p:nvSpPr>
        <p:spPr>
          <a:xfrm>
            <a:off x="4362412" y="4985468"/>
            <a:ext cx="1350520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C33B0B14-C3C3-2D20-2A51-CE164B0431BE}"/>
              </a:ext>
            </a:extLst>
          </p:cNvPr>
          <p:cNvSpPr/>
          <p:nvPr/>
        </p:nvSpPr>
        <p:spPr>
          <a:xfrm>
            <a:off x="1709335" y="4062313"/>
            <a:ext cx="1179941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5A315425-2A00-7691-A621-64C4BC14AF48}"/>
              </a:ext>
            </a:extLst>
          </p:cNvPr>
          <p:cNvSpPr/>
          <p:nvPr/>
        </p:nvSpPr>
        <p:spPr>
          <a:xfrm>
            <a:off x="2994113" y="4078628"/>
            <a:ext cx="1291511" cy="49105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36F2F16A-2AA5-1257-89A7-BFEB875B74DA}"/>
              </a:ext>
            </a:extLst>
          </p:cNvPr>
          <p:cNvSpPr/>
          <p:nvPr/>
        </p:nvSpPr>
        <p:spPr>
          <a:xfrm>
            <a:off x="4385941" y="4055481"/>
            <a:ext cx="1326991" cy="503238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4B858E-24CE-86D9-8FFA-EDC6F5C43037}"/>
              </a:ext>
            </a:extLst>
          </p:cNvPr>
          <p:cNvSpPr txBox="1"/>
          <p:nvPr/>
        </p:nvSpPr>
        <p:spPr>
          <a:xfrm>
            <a:off x="378256" y="3778482"/>
            <a:ext cx="11212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sz="1200" b="1" u="sng" dirty="0">
                <a:solidFill>
                  <a:schemeClr val="accent1"/>
                </a:solidFill>
              </a:rPr>
              <a:t>U</a:t>
            </a:r>
            <a:r>
              <a:rPr lang="en-IN" sz="1200" b="1" dirty="0">
                <a:solidFill>
                  <a:schemeClr val="accent1"/>
                </a:solidFill>
              </a:rPr>
              <a:t>dyam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3F9B1F-744D-DDAC-2A8C-964A70A6E218}"/>
              </a:ext>
            </a:extLst>
          </p:cNvPr>
          <p:cNvSpPr txBox="1"/>
          <p:nvPr/>
        </p:nvSpPr>
        <p:spPr>
          <a:xfrm>
            <a:off x="342136" y="4237097"/>
            <a:ext cx="253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MSME Registration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1EDFEC-9E9D-00C2-DA59-A9A9DB73BB47}"/>
              </a:ext>
            </a:extLst>
          </p:cNvPr>
          <p:cNvSpPr txBox="1"/>
          <p:nvPr/>
        </p:nvSpPr>
        <p:spPr>
          <a:xfrm>
            <a:off x="1715858" y="4047142"/>
            <a:ext cx="936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1"/>
                </a:solidFill>
              </a:rPr>
              <a:t>GST Portal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3CDEB2-C1D3-5923-E5CA-364EF48F7A95}"/>
              </a:ext>
            </a:extLst>
          </p:cNvPr>
          <p:cNvSpPr txBox="1"/>
          <p:nvPr/>
        </p:nvSpPr>
        <p:spPr>
          <a:xfrm>
            <a:off x="1693407" y="4271258"/>
            <a:ext cx="1455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Tax Compliance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A8605C-FD7F-A132-C051-10C1AECBD551}"/>
              </a:ext>
            </a:extLst>
          </p:cNvPr>
          <p:cNvSpPr txBox="1"/>
          <p:nvPr/>
        </p:nvSpPr>
        <p:spPr>
          <a:xfrm>
            <a:off x="3058190" y="4046792"/>
            <a:ext cx="1227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1"/>
                </a:solidFill>
              </a:rPr>
              <a:t>MCA21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D3239E-0776-216E-5852-CC8FDAE390FA}"/>
              </a:ext>
            </a:extLst>
          </p:cNvPr>
          <p:cNvSpPr txBox="1"/>
          <p:nvPr/>
        </p:nvSpPr>
        <p:spPr>
          <a:xfrm>
            <a:off x="2971513" y="4278784"/>
            <a:ext cx="12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Corporate Data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DC4C0B-AA46-EBCB-1813-B758B30BEC85}"/>
              </a:ext>
            </a:extLst>
          </p:cNvPr>
          <p:cNvSpPr txBox="1"/>
          <p:nvPr/>
        </p:nvSpPr>
        <p:spPr>
          <a:xfrm>
            <a:off x="4488180" y="4041589"/>
            <a:ext cx="1144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1"/>
                </a:solidFill>
              </a:rPr>
              <a:t>Startup India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D46F52-9B73-4783-22E7-D56D06E279DB}"/>
              </a:ext>
            </a:extLst>
          </p:cNvPr>
          <p:cNvSpPr txBox="1"/>
          <p:nvPr/>
        </p:nvSpPr>
        <p:spPr>
          <a:xfrm>
            <a:off x="4371367" y="4298700"/>
            <a:ext cx="13561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DPIIT Recognition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CF80AE-DEBE-8113-931B-CE514EFB88D1}"/>
              </a:ext>
            </a:extLst>
          </p:cNvPr>
          <p:cNvSpPr txBox="1"/>
          <p:nvPr/>
        </p:nvSpPr>
        <p:spPr>
          <a:xfrm rot="10800000" flipV="1">
            <a:off x="402568" y="4715632"/>
            <a:ext cx="114047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1800" b="1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r>
              <a:rPr lang="en-IN" sz="1200" b="1" i="0" dirty="0">
                <a:solidFill>
                  <a:schemeClr val="accent1"/>
                </a:solidFill>
                <a:effectLst/>
                <a:latin typeface="Calibri" pitchFamily="34" charset="0"/>
              </a:rPr>
              <a:t>NSIC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8E773E-FE7B-CBA4-CF5E-D2AD3E6F7B10}"/>
              </a:ext>
            </a:extLst>
          </p:cNvPr>
          <p:cNvSpPr txBox="1"/>
          <p:nvPr/>
        </p:nvSpPr>
        <p:spPr>
          <a:xfrm>
            <a:off x="1740428" y="4671651"/>
            <a:ext cx="18243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>
                <a:solidFill>
                  <a:schemeClr val="tx2"/>
                </a:solidFill>
              </a:rPr>
            </a:br>
            <a:r>
              <a:rPr lang="en-IN" sz="1200" b="1" dirty="0" err="1">
                <a:solidFill>
                  <a:schemeClr val="accent1"/>
                </a:solidFill>
              </a:rPr>
              <a:t>DigiLocker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A72745-1931-921C-A8D7-4A7E08AA8A4E}"/>
              </a:ext>
            </a:extLst>
          </p:cNvPr>
          <p:cNvSpPr txBox="1"/>
          <p:nvPr/>
        </p:nvSpPr>
        <p:spPr>
          <a:xfrm>
            <a:off x="1715858" y="5234489"/>
            <a:ext cx="19856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Doc Verification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7798C4-2258-C842-3312-96115D88E14C}"/>
              </a:ext>
            </a:extLst>
          </p:cNvPr>
          <p:cNvSpPr txBox="1"/>
          <p:nvPr/>
        </p:nvSpPr>
        <p:spPr>
          <a:xfrm>
            <a:off x="3065473" y="4667944"/>
            <a:ext cx="808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sz="1400" b="1" dirty="0">
                <a:solidFill>
                  <a:schemeClr val="accent1"/>
                </a:solidFill>
              </a:rPr>
              <a:t>BIS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5B4CE8A1-4EDB-F66F-A3A2-429C891D11A6}"/>
              </a:ext>
            </a:extLst>
          </p:cNvPr>
          <p:cNvSpPr txBox="1"/>
          <p:nvPr/>
        </p:nvSpPr>
        <p:spPr>
          <a:xfrm>
            <a:off x="2884584" y="5215075"/>
            <a:ext cx="1359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Product Standards</a:t>
            </a:r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677347CC-4084-88FA-4DAB-5BAE63B86977}"/>
              </a:ext>
            </a:extLst>
          </p:cNvPr>
          <p:cNvSpPr txBox="1"/>
          <p:nvPr/>
        </p:nvSpPr>
        <p:spPr>
          <a:xfrm>
            <a:off x="4358299" y="4689749"/>
            <a:ext cx="11131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sz="1200" b="1" dirty="0">
                <a:solidFill>
                  <a:schemeClr val="accent1"/>
                </a:solidFill>
              </a:rPr>
              <a:t>DPIIT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3E57250D-99A3-D298-1D9A-B34ED83F6B04}"/>
              </a:ext>
            </a:extLst>
          </p:cNvPr>
          <p:cNvSpPr txBox="1"/>
          <p:nvPr/>
        </p:nvSpPr>
        <p:spPr>
          <a:xfrm>
            <a:off x="4345310" y="5164552"/>
            <a:ext cx="1736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Local Content Policy</a:t>
            </a: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209301E0-6905-BD03-954D-67668CB3FC7E}"/>
              </a:ext>
            </a:extLst>
          </p:cNvPr>
          <p:cNvSpPr txBox="1"/>
          <p:nvPr/>
        </p:nvSpPr>
        <p:spPr>
          <a:xfrm>
            <a:off x="6388109" y="3648048"/>
            <a:ext cx="3903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cap="all" dirty="0"/>
              <a:t>4. Technical Research Foundations</a:t>
            </a:r>
          </a:p>
          <a:p>
            <a:endParaRPr lang="en-IN" dirty="0"/>
          </a:p>
        </p:txBody>
      </p:sp>
      <p:sp>
        <p:nvSpPr>
          <p:cNvPr id="17414" name="Flowchart: Alternate Process 17413">
            <a:extLst>
              <a:ext uri="{FF2B5EF4-FFF2-40B4-BE49-F238E27FC236}">
                <a16:creationId xmlns:a16="http://schemas.microsoft.com/office/drawing/2014/main" id="{3F2AC067-7D4B-219E-7C70-AD7E6DF80CA5}"/>
              </a:ext>
            </a:extLst>
          </p:cNvPr>
          <p:cNvSpPr/>
          <p:nvPr/>
        </p:nvSpPr>
        <p:spPr>
          <a:xfrm>
            <a:off x="6350003" y="4041589"/>
            <a:ext cx="2504796" cy="608434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6" name="Flowchart: Alternate Process 17415">
            <a:extLst>
              <a:ext uri="{FF2B5EF4-FFF2-40B4-BE49-F238E27FC236}">
                <a16:creationId xmlns:a16="http://schemas.microsoft.com/office/drawing/2014/main" id="{358E723C-8C85-91C6-C410-68D7B87398C8}"/>
              </a:ext>
            </a:extLst>
          </p:cNvPr>
          <p:cNvSpPr/>
          <p:nvPr/>
        </p:nvSpPr>
        <p:spPr>
          <a:xfrm>
            <a:off x="9032047" y="4025610"/>
            <a:ext cx="2797996" cy="608434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8" name="Flowchart: Alternate Process 17417">
            <a:extLst>
              <a:ext uri="{FF2B5EF4-FFF2-40B4-BE49-F238E27FC236}">
                <a16:creationId xmlns:a16="http://schemas.microsoft.com/office/drawing/2014/main" id="{D6F76C33-97E8-E193-4886-E9D4BCD598DE}"/>
              </a:ext>
            </a:extLst>
          </p:cNvPr>
          <p:cNvSpPr/>
          <p:nvPr/>
        </p:nvSpPr>
        <p:spPr>
          <a:xfrm>
            <a:off x="6350003" y="4738441"/>
            <a:ext cx="2504796" cy="567086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0" name="Flowchart: Alternate Process 17419">
            <a:extLst>
              <a:ext uri="{FF2B5EF4-FFF2-40B4-BE49-F238E27FC236}">
                <a16:creationId xmlns:a16="http://schemas.microsoft.com/office/drawing/2014/main" id="{7CA86643-E1D8-72F4-B6C6-FD743B50D836}"/>
              </a:ext>
            </a:extLst>
          </p:cNvPr>
          <p:cNvSpPr/>
          <p:nvPr/>
        </p:nvSpPr>
        <p:spPr>
          <a:xfrm>
            <a:off x="9032047" y="4773561"/>
            <a:ext cx="2763681" cy="552273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2" name="Flowchart: Alternate Process 17421">
            <a:extLst>
              <a:ext uri="{FF2B5EF4-FFF2-40B4-BE49-F238E27FC236}">
                <a16:creationId xmlns:a16="http://schemas.microsoft.com/office/drawing/2014/main" id="{2C456579-25FB-E335-38D0-202DC3B4D5E1}"/>
              </a:ext>
            </a:extLst>
          </p:cNvPr>
          <p:cNvSpPr/>
          <p:nvPr/>
        </p:nvSpPr>
        <p:spPr>
          <a:xfrm>
            <a:off x="9047583" y="5426162"/>
            <a:ext cx="2763681" cy="552273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4" name="Flowchart: Alternate Process 17423">
            <a:extLst>
              <a:ext uri="{FF2B5EF4-FFF2-40B4-BE49-F238E27FC236}">
                <a16:creationId xmlns:a16="http://schemas.microsoft.com/office/drawing/2014/main" id="{FD2D7B19-9246-CC90-2FA8-103E31FC21C7}"/>
              </a:ext>
            </a:extLst>
          </p:cNvPr>
          <p:cNvSpPr/>
          <p:nvPr/>
        </p:nvSpPr>
        <p:spPr>
          <a:xfrm>
            <a:off x="6350003" y="5405373"/>
            <a:ext cx="2501553" cy="552273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D5AB1B44-D2FF-AFEB-78E6-C5F0373BFA62}"/>
              </a:ext>
            </a:extLst>
          </p:cNvPr>
          <p:cNvSpPr txBox="1"/>
          <p:nvPr/>
        </p:nvSpPr>
        <p:spPr>
          <a:xfrm>
            <a:off x="6361880" y="4047142"/>
            <a:ext cx="2354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/>
                </a:solidFill>
              </a:rPr>
              <a:t>Document Intelligence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3B22C0CA-EFED-1291-B0C4-87F5C90C15D8}"/>
              </a:ext>
            </a:extLst>
          </p:cNvPr>
          <p:cNvSpPr txBox="1"/>
          <p:nvPr/>
        </p:nvSpPr>
        <p:spPr>
          <a:xfrm>
            <a:off x="6350004" y="4219849"/>
            <a:ext cx="2870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OCR &amp; structured table extraction </a:t>
            </a:r>
          </a:p>
          <a:p>
            <a:r>
              <a:rPr lang="en-IN" sz="1100" dirty="0"/>
              <a:t>methodologies.</a:t>
            </a:r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64CADC1D-C4BE-ECE7-FADB-07CE0D8846F0}"/>
              </a:ext>
            </a:extLst>
          </p:cNvPr>
          <p:cNvSpPr txBox="1"/>
          <p:nvPr/>
        </p:nvSpPr>
        <p:spPr>
          <a:xfrm>
            <a:off x="9191423" y="3754404"/>
            <a:ext cx="1998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sz="1400" b="1" dirty="0">
                <a:solidFill>
                  <a:schemeClr val="accent1"/>
                </a:solidFill>
              </a:rPr>
              <a:t>LLM Parsing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53B1B346-D972-84C9-45B6-97B3AD9AF8A4}"/>
              </a:ext>
            </a:extLst>
          </p:cNvPr>
          <p:cNvSpPr txBox="1"/>
          <p:nvPr/>
        </p:nvSpPr>
        <p:spPr>
          <a:xfrm>
            <a:off x="9136290" y="4229102"/>
            <a:ext cx="33726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Contextual clause parsing &amp;</a:t>
            </a:r>
          </a:p>
          <a:p>
            <a:r>
              <a:rPr lang="en-IN" sz="1100" dirty="0"/>
              <a:t> requirement extraction.</a:t>
            </a: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7CC76746-B9AD-C4E8-C531-5C11A7A0F801}"/>
              </a:ext>
            </a:extLst>
          </p:cNvPr>
          <p:cNvSpPr txBox="1"/>
          <p:nvPr/>
        </p:nvSpPr>
        <p:spPr>
          <a:xfrm>
            <a:off x="6380047" y="4519800"/>
            <a:ext cx="2826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400" b="1" dirty="0">
                <a:solidFill>
                  <a:schemeClr val="accent1"/>
                </a:solidFill>
              </a:rPr>
            </a:br>
            <a:r>
              <a:rPr lang="en-IN" sz="1400" b="1" dirty="0">
                <a:solidFill>
                  <a:schemeClr val="accent1"/>
                </a:solidFill>
              </a:rPr>
              <a:t>Deterministic Rules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34595520-14FB-347E-80F4-3CFF2DF28870}"/>
              </a:ext>
            </a:extLst>
          </p:cNvPr>
          <p:cNvSpPr txBox="1"/>
          <p:nvPr/>
        </p:nvSpPr>
        <p:spPr>
          <a:xfrm>
            <a:off x="6350003" y="4889072"/>
            <a:ext cx="33233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Mathematical threshold &amp; financial</a:t>
            </a:r>
          </a:p>
          <a:p>
            <a:r>
              <a:rPr lang="en-IN" sz="1100" dirty="0"/>
              <a:t> validation engines.</a:t>
            </a: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499A3271-C836-F7A5-0C92-714E7D572510}"/>
              </a:ext>
            </a:extLst>
          </p:cNvPr>
          <p:cNvSpPr txBox="1"/>
          <p:nvPr/>
        </p:nvSpPr>
        <p:spPr>
          <a:xfrm>
            <a:off x="9116303" y="4786478"/>
            <a:ext cx="19305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/>
                </a:solidFill>
              </a:rPr>
              <a:t>Evidence Matching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32" name="TextBox 17431">
            <a:extLst>
              <a:ext uri="{FF2B5EF4-FFF2-40B4-BE49-F238E27FC236}">
                <a16:creationId xmlns:a16="http://schemas.microsoft.com/office/drawing/2014/main" id="{52454911-0655-2273-7528-EDDF5FD526A8}"/>
              </a:ext>
            </a:extLst>
          </p:cNvPr>
          <p:cNvSpPr txBox="1"/>
          <p:nvPr/>
        </p:nvSpPr>
        <p:spPr>
          <a:xfrm>
            <a:off x="9099523" y="5006157"/>
            <a:ext cx="27040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Page &amp; line citation for audit traceability.</a:t>
            </a:r>
          </a:p>
        </p:txBody>
      </p:sp>
      <p:sp>
        <p:nvSpPr>
          <p:cNvPr id="17434" name="TextBox 17433">
            <a:extLst>
              <a:ext uri="{FF2B5EF4-FFF2-40B4-BE49-F238E27FC236}">
                <a16:creationId xmlns:a16="http://schemas.microsoft.com/office/drawing/2014/main" id="{205C2B9C-82D8-0A25-5ADE-55FFDB36F134}"/>
              </a:ext>
            </a:extLst>
          </p:cNvPr>
          <p:cNvSpPr txBox="1"/>
          <p:nvPr/>
        </p:nvSpPr>
        <p:spPr>
          <a:xfrm>
            <a:off x="6376141" y="5129320"/>
            <a:ext cx="179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sz="1400" b="1" dirty="0">
                <a:solidFill>
                  <a:schemeClr val="accent1"/>
                </a:solidFill>
              </a:rPr>
              <a:t>Contextual RAG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B1AA70EA-DA3B-90D9-F7D4-B2ACDB85866D}"/>
              </a:ext>
            </a:extLst>
          </p:cNvPr>
          <p:cNvSpPr txBox="1"/>
          <p:nvPr/>
        </p:nvSpPr>
        <p:spPr>
          <a:xfrm>
            <a:off x="6356767" y="5605238"/>
            <a:ext cx="2523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Tender-specific retrieval augmented decision support.</a:t>
            </a:r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47FBA6CD-21B9-3F02-5E3F-9BFD037F7CDB}"/>
              </a:ext>
            </a:extLst>
          </p:cNvPr>
          <p:cNvSpPr txBox="1"/>
          <p:nvPr/>
        </p:nvSpPr>
        <p:spPr>
          <a:xfrm>
            <a:off x="9180697" y="5375450"/>
            <a:ext cx="1826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/>
                </a:solidFill>
              </a:rPr>
              <a:t>Explainable AI</a:t>
            </a:r>
          </a:p>
          <a:p>
            <a:r>
              <a:rPr lang="en-IN" sz="1100" dirty="0"/>
              <a:t>Transparent reasoning for high-stakes governance.</a:t>
            </a:r>
            <a:endParaRPr lang="en-IN" sz="1100" dirty="0">
              <a:solidFill>
                <a:schemeClr val="accent1"/>
              </a:solidFill>
            </a:endParaRPr>
          </a:p>
        </p:txBody>
      </p:sp>
      <p:sp>
        <p:nvSpPr>
          <p:cNvPr id="17437" name="Rectangle: Diagonal Corners Rounded 17436">
            <a:extLst>
              <a:ext uri="{FF2B5EF4-FFF2-40B4-BE49-F238E27FC236}">
                <a16:creationId xmlns:a16="http://schemas.microsoft.com/office/drawing/2014/main" id="{E6F5B4EA-9193-F935-2771-5E7104439B41}"/>
              </a:ext>
            </a:extLst>
          </p:cNvPr>
          <p:cNvSpPr/>
          <p:nvPr/>
        </p:nvSpPr>
        <p:spPr>
          <a:xfrm>
            <a:off x="260997" y="6096006"/>
            <a:ext cx="11658392" cy="531392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1"/>
                </a:solidFill>
              </a:rPr>
              <a:t>Design Principle: AI assists verification; evidence and deterministic rules support the decision; the Procurement Officer retains final authority.</a:t>
            </a:r>
            <a:endParaRPr lang="en-IN" sz="1400" dirty="0">
              <a:solidFill>
                <a:schemeClr val="accent1"/>
              </a:solidFill>
            </a:endParaRPr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0653CFF5-814C-C733-1E03-704A26F2376A}"/>
              </a:ext>
            </a:extLst>
          </p:cNvPr>
          <p:cNvSpPr txBox="1"/>
          <p:nvPr/>
        </p:nvSpPr>
        <p:spPr>
          <a:xfrm>
            <a:off x="5263517" y="3497803"/>
            <a:ext cx="865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REF 03</a:t>
            </a:r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5267A80A-35E8-C75D-5B3A-9E700EA0F2DB}"/>
              </a:ext>
            </a:extLst>
          </p:cNvPr>
          <p:cNvSpPr txBox="1"/>
          <p:nvPr/>
        </p:nvSpPr>
        <p:spPr>
          <a:xfrm>
            <a:off x="11282758" y="3480856"/>
            <a:ext cx="865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REF 04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7810</TotalTime>
  <Words>1124</Words>
  <Application>Microsoft Office PowerPoint</Application>
  <PresentationFormat>Widescreen</PresentationFormat>
  <Paragraphs>236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ＭＳ Ｐゴシック</vt:lpstr>
      <vt:lpstr>Arial</vt:lpstr>
      <vt:lpstr>Bell MT</vt:lpstr>
      <vt:lpstr>Book Antiqua</vt:lpstr>
      <vt:lpstr>Calibri</vt:lpstr>
      <vt:lpstr>Corbel</vt:lpstr>
      <vt:lpstr>Garamond</vt:lpstr>
      <vt:lpstr>Plus Jakarta Sans</vt:lpstr>
      <vt:lpstr>Times New Roman</vt:lpstr>
      <vt:lpstr>TradeGothic</vt:lpstr>
      <vt:lpstr>Tw Cen MT</vt:lpstr>
      <vt:lpstr>Wingdings</vt:lpstr>
      <vt:lpstr>Office Theme</vt:lpstr>
      <vt:lpstr>SMART INDIA HACKATHON 2026</vt:lpstr>
      <vt:lpstr> CLAUSENTIS – PROCUREMENT INTELLIGENCE,  MADE VERIFIABLE 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Farhanaaz Kundagol</cp:lastModifiedBy>
  <cp:revision>150</cp:revision>
  <dcterms:created xsi:type="dcterms:W3CDTF">2013-12-12T18:46:50Z</dcterms:created>
  <dcterms:modified xsi:type="dcterms:W3CDTF">2026-09-11T20:48:04Z</dcterms:modified>
  <cp:category/>
</cp:coreProperties>
</file>